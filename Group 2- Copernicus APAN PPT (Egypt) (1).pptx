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607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0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1554480" cy="1554480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87000" y="960120"/>
            <a:ext cx="914400" cy="914400"/>
          </a:xfrm>
          <a:prstGeom prst="ellipse">
            <a:avLst/>
          </a:prstGeom>
          <a:solidFill>
            <a:srgbClr val="1B140E"/>
          </a:solidFill>
          <a:ln w="25400">
            <a:solidFill>
              <a:srgbClr val="D4A9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20640"/>
            <a:ext cx="2743200" cy="1737360"/>
          </a:xfrm>
          <a:prstGeom prst="triangle">
            <a:avLst/>
          </a:prstGeom>
          <a:solidFill>
            <a:srgbClr val="C0592C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5394960"/>
            <a:ext cx="2103120" cy="1463040"/>
          </a:xfrm>
          <a:prstGeom prst="triangle">
            <a:avLst/>
          </a:prstGeom>
          <a:solidFill>
            <a:srgbClr val="8C3E1F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5349240"/>
            <a:ext cx="2377440" cy="1508760"/>
          </a:xfrm>
          <a:prstGeom prst="triangle">
            <a:avLst/>
          </a:prstGeom>
          <a:solidFill>
            <a:srgbClr val="C0592C"/>
          </a:solidFill>
          <a:ln/>
        </p:spPr>
      </p:sp>
      <p:sp>
        <p:nvSpPr>
          <p:cNvPr id="8" name="Text 6"/>
          <p:cNvSpPr/>
          <p:nvPr/>
        </p:nvSpPr>
        <p:spPr>
          <a:xfrm>
            <a:off x="538480" y="5486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SINAUNANG EHIPTO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38480" y="13716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(EGYPT)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8480" y="2078567"/>
            <a:ext cx="9982200" cy="24400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Kabihasnang hinubog ng Ilog Nile, pinag-isa ng </a:t>
            </a:r>
            <a:r>
              <a:rPr lang="en-US" sz="4000" i="1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mga</a:t>
            </a:r>
            <a:r>
              <a:rPr lang="en-US" sz="4000" i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i="1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Paraon</a:t>
            </a:r>
            <a:r>
              <a:rPr lang="en-US" sz="4000" i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r>
              <a:rPr lang="en-US" sz="4000" dirty="0"/>
              <a:t> </a:t>
            </a:r>
            <a:r>
              <a:rPr lang="en-US" sz="4000" i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pinatunayan ng pagtutulungan ng tao at kalikasan.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4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32004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Paano hinubog ng Ilog Nile ang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pang-araw-araw na pamumuhay?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2A2016"/>
          </a:solidFill>
          <a:ln/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09928" y="2423160"/>
            <a:ext cx="512064" cy="512064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6" name="Text 4"/>
          <p:cNvSpPr/>
          <p:nvPr/>
        </p:nvSpPr>
        <p:spPr>
          <a:xfrm>
            <a:off x="1709928" y="2423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Taunang Pagbaha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Idinulot ng regular na pagbaha ng Nile ang matabang lupa (silt) na naging batayan ng matagumpay na pagsasaka.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2A2016"/>
          </a:solidFill>
          <a:ln/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423160"/>
            <a:ext cx="512064" cy="512064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423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Pinagkukunan ng Buhay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3703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Pinagmulan ng tubig-inumin, patubig (irigasyon), at </a:t>
            </a:r>
            <a:r>
              <a:rPr lang="en-US" sz="1600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pagkain</a:t>
            </a: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600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bukal</a:t>
            </a: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ng kabuhayan ng mga Ehipsiyo.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2A2016"/>
          </a:solidFill>
          <a:ln/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70648" y="2423160"/>
            <a:ext cx="512064" cy="512064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48" y="2423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ng Kalakalan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3703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Ginamit bilang daanan ng mga bangka para sa kalakalan at paglilipat ng mga bato patungo sa mga piramide.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8116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2A2016"/>
          </a:solidFill>
          <a:ln/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351008" y="2423160"/>
            <a:ext cx="512064" cy="512064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21" name="Text 19"/>
          <p:cNvSpPr/>
          <p:nvPr/>
        </p:nvSpPr>
        <p:spPr>
          <a:xfrm>
            <a:off x="10351008" y="2423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6404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Tagapag-ugnay ng Bansa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64040" y="3703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Pinag-ugnay nito ang Itaas at Ibabang Ehipto, na naging daan sa pagkakaisa ng kabuuang kaharian.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4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09507" y="234526"/>
            <a:ext cx="10881360" cy="999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Bakit mahalaga </a:t>
            </a:r>
            <a:r>
              <a:rPr lang="en-US" sz="3600" b="1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</a:t>
            </a: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pagtutulungan</a:t>
            </a:r>
            <a:endParaRPr lang="en-US" sz="3600" b="1" dirty="0">
              <a:solidFill>
                <a:srgbClr val="F4E9D8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 mga tao?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ilalim ng mga Paraon, nagtulungan ang mga Ehipsiyo sa tatlong yugto ng kasaysayan</a:t>
            </a:r>
            <a:r>
              <a:rPr lang="en-US" sz="1350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2A201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C0592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30552"/>
            <a:ext cx="3520440" cy="246888"/>
          </a:xfrm>
          <a:prstGeom prst="rect">
            <a:avLst/>
          </a:prstGeom>
          <a:solidFill>
            <a:srgbClr val="C0592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LUMANG KAHARIAN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Panahon ng Piramide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 mga Paraon bilang "God-King" ay nag-organisa ng libu-libong manggagawa upang itayo ang </a:t>
            </a:r>
            <a:r>
              <a:rPr lang="en-US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mga</a:t>
            </a: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piramide</a:t>
            </a: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 patunay ng malawakang kooperasyon.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434840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2A201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87452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3E7C74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2130552"/>
            <a:ext cx="3520440" cy="246888"/>
          </a:xfrm>
          <a:prstGeom prst="rect">
            <a:avLst/>
          </a:prstGeom>
          <a:solidFill>
            <a:srgbClr val="3E7C7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GITNANG KAHARIAN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25146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Panahon ng Maharlika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Tinawag ang mga Paraon na "Shepherd of the People." Nagtulungan sila upang paunlarin ang kalakalan at pangalagaan ang mamamayan.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229600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2A2016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87452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8C6A2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2130552"/>
            <a:ext cx="3520440" cy="246888"/>
          </a:xfrm>
          <a:prstGeom prst="rect">
            <a:avLst/>
          </a:prstGeom>
          <a:solidFill>
            <a:srgbClr val="8C6A2A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BAGONG KAHARIAN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0" y="25146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Panahon ng Imperyo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8200" y="30632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Panahon ng ekspansyon kung saan pinamunuan ng mga pinuno tulad ni Hatshepsut at Ramesses II ang pagpapalakas at pag-iisa ng bansa.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4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33172"/>
            <a:ext cx="10881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Kooperasyon sa Irigasyon, Piramide, at </a:t>
            </a:r>
          </a:p>
          <a:p>
            <a:pPr marL="0" indent="0">
              <a:buNone/>
            </a:pPr>
            <a:r>
              <a:rPr lang="en-US" sz="3600" b="1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Pagkakaisa</a:t>
            </a: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ng Bansa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A2016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40280"/>
            <a:ext cx="548640" cy="548640"/>
          </a:xfrm>
          <a:prstGeom prst="ellipse">
            <a:avLst/>
          </a:prstGeom>
          <a:solidFill>
            <a:srgbClr val="C0592C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99339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ng Irigasyon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0" y="1993392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Nangailangan ng maayos na pagtutulungan upang makontrol ang pagbaha ng Nile at ipamahagi ang tubig sa mga bukid.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A2016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3840480"/>
            <a:ext cx="548640" cy="548640"/>
          </a:xfrm>
          <a:prstGeom prst="ellipse">
            <a:avLst/>
          </a:prstGeom>
          <a:solidFill>
            <a:srgbClr val="C0592C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359359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Pagtatayo ng mga Piramide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3593592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Napakalaking gawaing </a:t>
            </a:r>
            <a:r>
              <a:rPr lang="en-US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bato</a:t>
            </a: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, </a:t>
            </a:r>
            <a:r>
              <a:rPr lang="en-US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tulad</a:t>
            </a: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ng Great Pyramid of Khufu,  na natapos sa pamamagitan ng organisadong lakas-paggawa ng libu-libong tao.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A2016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5440680"/>
            <a:ext cx="548640" cy="548640"/>
          </a:xfrm>
          <a:prstGeom prst="ellipse">
            <a:avLst/>
          </a:prstGeom>
          <a:solidFill>
            <a:srgbClr val="C0592C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519379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Pag-iisa ng Itaas at Ibabang Ehipto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0" y="5193792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 pagsasama-sama ng dalawang rehiyon sa ilalim ng iisang Paraon ang naging saligan ng matatag at nagkakaisang kabihasnan.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4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8387" y="33189"/>
            <a:ext cx="10881360" cy="120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Kooperasyon ng Tao at Kalikasan: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Susi sa Tagumpay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Ipinapakita ng mga pamana ng Ehipto na ang tagumpay ng isang kabihasnan ay bunga ng pakikipagtulungan ng tao sa kanyang kapaligiran: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A201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04288"/>
            <a:ext cx="384048" cy="384048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Hieroglyphics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ng pagsulat gamit ang mga simbolo, patunay ng kakayahang mag-organisa ng kaalaman.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A2016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304288"/>
            <a:ext cx="384048" cy="384048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Polytheismo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3464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Paniniwala sa maraming diyos (Ra, Osiris, Isis, Horus) na nag-uugnay sa lipunan at kalikasan.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A2016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2304288"/>
            <a:ext cx="384048" cy="384048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Mummification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3920" y="28346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Maingat na proseso ng pag-eembalsamo bilang paghahanda sa kabilang buhay.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A201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498848"/>
            <a:ext cx="384048" cy="384048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Pyramids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50292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Malalaking libingan ng mga Paraon, patunay ng sama-samang lakas-paggawa.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484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A2016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498848"/>
            <a:ext cx="384048" cy="384048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Rosetta Stone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09160" y="50292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Susi sa pag-unawa sa hieroglyphics gamit ang tatlong uri ng sulat.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A2016"/>
          </a:solidFill>
          <a:ln/>
        </p:spPr>
      </p:sp>
      <p:sp>
        <p:nvSpPr>
          <p:cNvPr id="26" name="Shape 24"/>
          <p:cNvSpPr/>
          <p:nvPr/>
        </p:nvSpPr>
        <p:spPr>
          <a:xfrm>
            <a:off x="8458200" y="4498848"/>
            <a:ext cx="384048" cy="384048"/>
          </a:xfrm>
          <a:prstGeom prst="ellipse">
            <a:avLst/>
          </a:prstGeom>
          <a:solidFill>
            <a:srgbClr val="3E7C74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of the Dead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03920" y="50292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Kalipunan ng mga dasal at himno para sa seremonya ng kabilang buhay.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4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A201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486400"/>
            <a:ext cx="2743200" cy="2743200"/>
          </a:xfrm>
          <a:prstGeom prst="ellipse">
            <a:avLst/>
          </a:prstGeom>
          <a:solidFill>
            <a:srgbClr val="2A201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BUOD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Nile + Pagtutulungan = Tagumpay ng Kabihasnang Ehipto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128016" cy="128016"/>
          </a:xfrm>
          <a:prstGeom prst="ellipse">
            <a:avLst/>
          </a:prstGeom>
          <a:solidFill>
            <a:srgbClr val="C0592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06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 Ilog Nile ang naging pundasyon ng kabuhayan, agrikultura, at kalakalan ng mga sinaunang Ehipsiyo.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128016" cy="128016"/>
          </a:xfrm>
          <a:prstGeom prst="ellipse">
            <a:avLst/>
          </a:prstGeom>
          <a:solidFill>
            <a:srgbClr val="C0592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661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 pagtutulungan ng mga </a:t>
            </a:r>
            <a:r>
              <a:rPr lang="en-US" sz="2000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tao</a:t>
            </a:r>
            <a:r>
              <a:rPr lang="en-US" sz="20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, </a:t>
            </a:r>
            <a:r>
              <a:rPr lang="en-US" sz="2000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</a:t>
            </a:r>
            <a:r>
              <a:rPr lang="en-US" sz="20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irigasyon, sa pagtatayo ng piramide, at sa pag-iisa ng </a:t>
            </a:r>
            <a:r>
              <a:rPr lang="en-US" sz="2000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bansa</a:t>
            </a:r>
            <a:r>
              <a:rPr lang="en-US" sz="20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000" dirty="0" err="1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</a:t>
            </a:r>
            <a:r>
              <a:rPr lang="en-US" sz="20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nagpatatag sa kaharian sa tatlong panahon nito.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4709160"/>
            <a:ext cx="128016" cy="128016"/>
          </a:xfrm>
          <a:prstGeom prst="ellipse">
            <a:avLst/>
          </a:prstGeom>
          <a:solidFill>
            <a:srgbClr val="C0592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517572"/>
            <a:ext cx="9966960" cy="1071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4E9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 mga pamana tulad ng hieroglyphics, piramide, at Rosetta Stone ay nagpapatunay na ang kooperasyon ng tao at kalikasan ang susi sa pagtatagumpay ng isang kabihasnan.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6080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Kabihasnang </a:t>
            </a:r>
            <a:r>
              <a:rPr lang="en-US" sz="1600" i="1" dirty="0" err="1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Ehipto</a:t>
            </a:r>
            <a:r>
              <a:rPr lang="en-US" sz="1600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</a:t>
            </a:r>
            <a:r>
              <a:rPr lang="en-US" sz="1600" i="1" dirty="0" err="1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Pamana</a:t>
            </a:r>
            <a:r>
              <a:rPr lang="en-US" sz="1600" i="1" dirty="0">
                <a:solidFill>
                  <a:srgbClr val="E9C9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ng Ilog Nile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4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1554480" cy="1554480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87000" y="960120"/>
            <a:ext cx="914400" cy="914400"/>
          </a:xfrm>
          <a:prstGeom prst="ellipse">
            <a:avLst/>
          </a:prstGeom>
          <a:solidFill>
            <a:srgbClr val="1B140E"/>
          </a:solidFill>
          <a:ln w="25400">
            <a:solidFill>
              <a:srgbClr val="D4A9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20640"/>
            <a:ext cx="2743200" cy="1737360"/>
          </a:xfrm>
          <a:prstGeom prst="triangle">
            <a:avLst/>
          </a:prstGeom>
          <a:solidFill>
            <a:srgbClr val="C0592C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5394960"/>
            <a:ext cx="2103120" cy="1463040"/>
          </a:xfrm>
          <a:prstGeom prst="triangle">
            <a:avLst/>
          </a:prstGeom>
          <a:solidFill>
            <a:srgbClr val="8C3E1F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5349240"/>
            <a:ext cx="2377440" cy="1508760"/>
          </a:xfrm>
          <a:prstGeom prst="triangle">
            <a:avLst/>
          </a:prstGeom>
          <a:solidFill>
            <a:srgbClr val="C0592C"/>
          </a:solidFill>
          <a:ln/>
        </p:spPr>
      </p:sp>
      <p:sp>
        <p:nvSpPr>
          <p:cNvPr id="7" name="Text 5"/>
          <p:cNvSpPr/>
          <p:nvPr/>
        </p:nvSpPr>
        <p:spPr>
          <a:xfrm>
            <a:off x="3255433" y="3358724"/>
            <a:ext cx="52070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 2 - Copernicus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82335" y="611288"/>
            <a:ext cx="6307666" cy="189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E9D8"/>
                </a:solidFill>
                <a:latin typeface="Georgia" pitchFamily="34" charset="0"/>
              </a:rPr>
              <a:t>MARAMING SALAMAT PO!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3572934" y="4041987"/>
            <a:ext cx="4572000" cy="1307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D4A94A"/>
                </a:solidFill>
                <a:latin typeface="Comic Sans MS" panose="030F0702030302020204" pitchFamily="66" charset="0"/>
              </a:rPr>
              <a:t>Carl </a:t>
            </a:r>
            <a:r>
              <a:rPr lang="en-US" sz="1600" b="1" kern="0" spc="400" dirty="0" err="1">
                <a:solidFill>
                  <a:srgbClr val="D4A94A"/>
                </a:solidFill>
                <a:latin typeface="Comic Sans MS" panose="030F0702030302020204" pitchFamily="66" charset="0"/>
              </a:rPr>
              <a:t>Yram</a:t>
            </a:r>
            <a:r>
              <a:rPr lang="en-US" sz="1600" b="1" kern="0" spc="400" dirty="0">
                <a:solidFill>
                  <a:srgbClr val="D4A94A"/>
                </a:solidFill>
                <a:latin typeface="Comic Sans MS" panose="030F0702030302020204" pitchFamily="66" charset="0"/>
              </a:rPr>
              <a:t> Estrada</a:t>
            </a:r>
          </a:p>
          <a:p>
            <a:pPr marL="0" indent="0" algn="ctr">
              <a:buNone/>
            </a:pPr>
            <a:r>
              <a:rPr lang="en-US" sz="1600" b="1" kern="0" spc="400" dirty="0">
                <a:solidFill>
                  <a:srgbClr val="D4A94A"/>
                </a:solidFill>
                <a:latin typeface="Comic Sans MS" panose="030F0702030302020204" pitchFamily="66" charset="0"/>
              </a:rPr>
              <a:t>John Isaac Fernandez</a:t>
            </a:r>
          </a:p>
          <a:p>
            <a:pPr marL="0" indent="0" algn="ctr">
              <a:buNone/>
            </a:pPr>
            <a:r>
              <a:rPr lang="en-US" sz="1600" b="1" kern="0" spc="400" dirty="0">
                <a:solidFill>
                  <a:srgbClr val="D4A94A"/>
                </a:solidFill>
                <a:latin typeface="Comic Sans MS" panose="030F0702030302020204" pitchFamily="66" charset="0"/>
              </a:rPr>
              <a:t>Leigh Nicole Fontanilla</a:t>
            </a:r>
          </a:p>
          <a:p>
            <a:pPr marL="0" indent="0" algn="ctr">
              <a:buNone/>
            </a:pPr>
            <a:r>
              <a:rPr lang="en-US" sz="1600" b="1" kern="0" spc="400" dirty="0">
                <a:solidFill>
                  <a:srgbClr val="D4A94A"/>
                </a:solidFill>
                <a:latin typeface="Comic Sans MS" panose="030F0702030302020204" pitchFamily="66" charset="0"/>
              </a:rPr>
              <a:t>Anika Julia Ortega</a:t>
            </a:r>
          </a:p>
          <a:p>
            <a:pPr marL="0" indent="0" algn="ctr">
              <a:buNone/>
            </a:pPr>
            <a:r>
              <a:rPr lang="en-US" sz="1600" b="1" kern="0" spc="400" dirty="0">
                <a:solidFill>
                  <a:srgbClr val="D4A94A"/>
                </a:solidFill>
                <a:latin typeface="Comic Sans MS" panose="030F0702030302020204" pitchFamily="66" charset="0"/>
              </a:rPr>
              <a:t>Mikael Gabriel Soriano</a:t>
            </a:r>
            <a:endParaRPr lang="en-US" sz="1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94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566</Words>
  <Application>Microsoft Office PowerPoint</Application>
  <PresentationFormat>Widescreen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Comic Sans MS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Lilu's</cp:lastModifiedBy>
  <cp:revision>12</cp:revision>
  <dcterms:created xsi:type="dcterms:W3CDTF">2026-08-24T13:40:10Z</dcterms:created>
  <dcterms:modified xsi:type="dcterms:W3CDTF">2026-08-25T06:12:09Z</dcterms:modified>
</cp:coreProperties>
</file>